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3366"/>
                </a:solidFill>
              </a:defRPr>
            </a:pPr>
            <a:r>
              <a:t>Chaetodontidae Color Pattern Pilot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646464"/>
                </a:solidFill>
              </a:defRPr>
            </a:pPr>
            <a:r>
              <a:t>Replicating Alfaro et al. 2019 with Curated Exemplars</a:t>
            </a:r>
            <a:br/>
            <a:br/>
            <a:r>
              <a:t>February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Analysis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8872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• 130 curated exemplar species with user-selected images</a:t>
            </a:r>
          </a:p>
          <a:p>
            <a:pPr>
              <a:spcAft>
                <a:spcPts val="1200"/>
              </a:spcAft>
              <a:defRPr sz="2000"/>
            </a:pPr>
            <a:r>
              <a:t>• Species-specific gestalt k values (range: 2-5 color classes)</a:t>
            </a:r>
          </a:p>
          <a:p>
            <a:pPr>
              <a:spcAft>
                <a:spcPts val="1200"/>
              </a:spcAft>
              <a:defRPr sz="2000"/>
            </a:pPr>
            <a:r>
              <a:t>• Time-calibrated phylogeny (crown age: 54.17 Ma)</a:t>
            </a:r>
          </a:p>
          <a:p>
            <a:pPr>
              <a:spcAft>
                <a:spcPts val="1200"/>
              </a:spcAft>
              <a:defRPr sz="2000"/>
            </a:pPr>
            <a:r>
              <a:t>• 130 species analyzed with Pavo color pattern metrics</a:t>
            </a:r>
          </a:p>
          <a:p>
            <a:pPr>
              <a:spcAft>
                <a:spcPts val="1200"/>
              </a:spcAft>
              <a:defRPr sz="2000"/>
            </a:pPr>
            <a:r>
              <a:t>• Replicating key analyses from Alfaro et al. 2019 ICB paper</a:t>
            </a:r>
          </a:p>
          <a:p>
            <a:pPr>
              <a:spcAft>
                <a:spcPts val="1200"/>
              </a:spcAft>
              <a:defRPr sz="2000"/>
            </a:pPr>
            <a:r>
              <a:t>• Testing sister species divergence (Hemingson et al. 2019)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Phylogenetic Tree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8872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• Source: Phylogenomic tree (209 tips) rescaled with dated tree (51 tips)</a:t>
            </a:r>
          </a:p>
          <a:p>
            <a:pPr>
              <a:spcAft>
                <a:spcPts val="1200"/>
              </a:spcAft>
              <a:defRPr sz="2000"/>
            </a:pPr>
            <a:r>
              <a:t>• Scaling factor: 1075.18 (based on 41 common species)</a:t>
            </a:r>
          </a:p>
          <a:p>
            <a:pPr>
              <a:spcAft>
                <a:spcPts val="1200"/>
              </a:spcAft>
              <a:defRPr sz="2000"/>
            </a:pPr>
            <a:r>
              <a:t>• Chaetodontidae crown age: 54.17 Ma</a:t>
            </a:r>
          </a:p>
          <a:p>
            <a:pPr>
              <a:spcAft>
                <a:spcPts val="1200"/>
              </a:spcAft>
              <a:defRPr sz="2000"/>
            </a:pPr>
            <a:r>
              <a:t>• Pruned to 109 species with exemplar data</a:t>
            </a:r>
          </a:p>
          <a:p>
            <a:pPr>
              <a:spcAft>
                <a:spcPts val="1200"/>
              </a:spcAft>
              <a:defRPr sz="2000"/>
            </a:pPr>
            <a:r>
              <a:t>• 106 species matched for phylogenetic comparative analyses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Color Pattern Analysis (Pavo)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8872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• K-means classification with species-specific k values (2-5)</a:t>
            </a:r>
          </a:p>
          <a:p>
            <a:pPr>
              <a:spcAft>
                <a:spcPts val="1200"/>
              </a:spcAft>
              <a:defRPr sz="2000"/>
            </a:pPr>
            <a:r>
              <a:t>• 6 core metrics calculated:</a:t>
            </a:r>
          </a:p>
          <a:p>
            <a:pPr>
              <a:spcAft>
                <a:spcPts val="1200"/>
              </a:spcAft>
              <a:defRPr sz="2000"/>
            </a:pPr>
            <a:r>
              <a:t>•    m = transition density (pattern complexity)</a:t>
            </a:r>
          </a:p>
          <a:p>
            <a:pPr>
              <a:spcAft>
                <a:spcPts val="1200"/>
              </a:spcAft>
              <a:defRPr sz="2000"/>
            </a:pPr>
            <a:r>
              <a:t>•    A = aspect ratio of transitions</a:t>
            </a:r>
          </a:p>
          <a:p>
            <a:pPr>
              <a:spcAft>
                <a:spcPts val="1200"/>
              </a:spcAft>
              <a:defRPr sz="2000"/>
            </a:pPr>
            <a:r>
              <a:t>•    Jc = color class diversity (Simpson's index)</a:t>
            </a:r>
          </a:p>
          <a:p>
            <a:pPr>
              <a:spcAft>
                <a:spcPts val="1200"/>
              </a:spcAft>
              <a:defRPr sz="2000"/>
            </a:pPr>
            <a:r>
              <a:t>•    Jt = transition type diversity</a:t>
            </a:r>
          </a:p>
          <a:p>
            <a:pPr>
              <a:spcAft>
                <a:spcPts val="1200"/>
              </a:spcAft>
              <a:defRPr sz="2000"/>
            </a:pPr>
            <a:r>
              <a:t>•    m_dS = mean chromatic boundary strength</a:t>
            </a:r>
          </a:p>
          <a:p>
            <a:pPr>
              <a:spcAft>
                <a:spcPts val="1200"/>
              </a:spcAft>
              <a:defRPr sz="2000"/>
            </a:pPr>
            <a:r>
              <a:t>•    m_dL = mean achromatic boundary strength</a:t>
            </a:r>
          </a:p>
          <a:p>
            <a:pPr>
              <a:spcAft>
                <a:spcPts val="1200"/>
              </a:spcAft>
              <a:defRPr sz="2000"/>
            </a:pPr>
            <a:r>
              <a:t>• Grayscale analysis for robustness testing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Color Pattern Metrics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Transition density (m): mean = 0.120 ± 0.056</a:t>
            </a:r>
          </a:p>
          <a:p>
            <a:pPr>
              <a:spcAft>
                <a:spcPts val="800"/>
              </a:spcAft>
              <a:defRPr sz="1800"/>
            </a:pPr>
            <a:r>
              <a:t>Color diversity (Jc): mean = 0.754 ± 0.164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By gestalt k value:</a:t>
            </a:r>
          </a:p>
          <a:p>
            <a:pPr>
              <a:spcAft>
                <a:spcPts val="800"/>
              </a:spcAft>
              <a:defRPr sz="1800"/>
            </a:pPr>
            <a:r>
              <a:t>   k=2: 10 species (simpler patterns)</a:t>
            </a:r>
          </a:p>
          <a:p>
            <a:pPr>
              <a:spcAft>
                <a:spcPts val="800"/>
              </a:spcAft>
              <a:defRPr sz="1800"/>
            </a:pPr>
            <a:r>
              <a:t>   k=3: 71 species</a:t>
            </a:r>
          </a:p>
          <a:p>
            <a:pPr>
              <a:spcAft>
                <a:spcPts val="800"/>
              </a:spcAft>
              <a:defRPr sz="1800"/>
            </a:pPr>
            <a:r>
              <a:t>   k=4: 48 species</a:t>
            </a:r>
          </a:p>
          <a:p>
            <a:pPr>
              <a:spcAft>
                <a:spcPts val="800"/>
              </a:spcAft>
              <a:defRPr sz="1800"/>
            </a:pPr>
            <a:r>
              <a:t>   k=5: 1 species (complex patterns)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Species-specific k captures pattern complexity better than fixed k=4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Phylogenetic Signal (Blomberg's K)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K &lt; 1 indicates closely related species are MORE variable than expected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Significant phylogenetic signal detected:</a:t>
            </a:r>
          </a:p>
          <a:p>
            <a:pPr>
              <a:spcAft>
                <a:spcPts val="800"/>
              </a:spcAft>
              <a:defRPr sz="1800"/>
            </a:pPr>
            <a:r>
              <a:t>   PC1: K = 0.208 (p = 0.0030)</a:t>
            </a:r>
          </a:p>
          <a:p>
            <a:pPr>
              <a:spcAft>
                <a:spcPts val="800"/>
              </a:spcAft>
              <a:defRPr sz="1800"/>
            </a:pPr>
            <a:r>
              <a:t>   PC2: K = 0.199 (p = 0.0090)</a:t>
            </a:r>
          </a:p>
          <a:p>
            <a:pPr>
              <a:spcAft>
                <a:spcPts val="800"/>
              </a:spcAft>
              <a:defRPr sz="1800"/>
            </a:pPr>
            <a:r>
              <a:t>   m: K = 0.230 (p = 0.0010)</a:t>
            </a:r>
          </a:p>
          <a:p>
            <a:pPr>
              <a:spcAft>
                <a:spcPts val="800"/>
              </a:spcAft>
              <a:defRPr sz="1800"/>
            </a:pPr>
            <a:r>
              <a:t>   A: K = 0.287 (p = 0.0010)</a:t>
            </a:r>
          </a:p>
          <a:p>
            <a:pPr>
              <a:spcAft>
                <a:spcPts val="800"/>
              </a:spcAft>
              <a:defRPr sz="1800"/>
            </a:pPr>
            <a:r>
              <a:t>   Jc: K = 0.249 (p = 0.0010)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Consistent with Alfaro et al. 2019: rapid color pattern evolution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Disparity Through Time (DTT)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Morphological Disparity Index (MDI):</a:t>
            </a:r>
          </a:p>
          <a:p>
            <a:pPr>
              <a:spcAft>
                <a:spcPts val="800"/>
              </a:spcAft>
              <a:defRPr sz="1800"/>
            </a:pPr>
            <a:r>
              <a:t>   PC1: MDI = 0.171 (p = 0.787)</a:t>
            </a:r>
          </a:p>
          <a:p>
            <a:pPr>
              <a:spcAft>
                <a:spcPts val="800"/>
              </a:spcAft>
              <a:defRPr sz="1800"/>
            </a:pPr>
            <a:r>
              <a:t>   PC2: MDI = 0.589 (p = 0.997)</a:t>
            </a:r>
          </a:p>
          <a:p>
            <a:pPr>
              <a:spcAft>
                <a:spcPts val="800"/>
              </a:spcAft>
              <a:defRPr sz="1800"/>
            </a:pPr>
            <a:r>
              <a:t>   PC3: MDI = 0.560 (p = 0.995)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Positive MDI indicates subclade disparity higher than BM expectation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Non-significant p-values suggest pattern could arise by chance</a:t>
            </a:r>
          </a:p>
          <a:p>
            <a:pPr>
              <a:spcAft>
                <a:spcPts val="800"/>
              </a:spcAft>
              <a:defRPr sz="1800"/>
            </a:pPr>
            <a:r>
              <a:t>More data or focused analysis may reveal clearer patterns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Rate Acceleration (Node Heights Test)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Tests for evolutionary rate changes through time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PC1: slope = 0.0056 (p = 0.0209) *</a:t>
            </a:r>
          </a:p>
          <a:p>
            <a:pPr>
              <a:spcAft>
                <a:spcPts val="800"/>
              </a:spcAft>
              <a:defRPr sz="1800"/>
            </a:pPr>
            <a:r>
              <a:t>PC2: slope = 0.0019 (p = 0.222)</a:t>
            </a:r>
          </a:p>
          <a:p>
            <a:pPr>
              <a:spcAft>
                <a:spcPts val="800"/>
              </a:spcAft>
              <a:defRPr sz="1800"/>
            </a:pPr>
            <a:r>
              <a:t>PC3: slope = 0.0009 (p = 0.308)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Positive slope = accelerating evolution toward present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* PC1 shows significant rate acceleration</a:t>
            </a:r>
          </a:p>
          <a:p>
            <a:pPr>
              <a:spcAft>
                <a:spcPts val="800"/>
              </a:spcAft>
              <a:defRPr sz="1800"/>
            </a:pPr>
            <a:r>
              <a:t>Color pattern evolution speeding up in recent time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Sister Species Color Divergence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5 sister pairs with both members having exemplar data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Color dissimilarity statistics:</a:t>
            </a:r>
          </a:p>
          <a:p>
            <a:pPr>
              <a:spcAft>
                <a:spcPts val="800"/>
              </a:spcAft>
              <a:defRPr sz="1800"/>
            </a:pPr>
            <a:r>
              <a:t>   Mean: 0.395</a:t>
            </a:r>
          </a:p>
          <a:p>
            <a:pPr>
              <a:spcAft>
                <a:spcPts val="800"/>
              </a:spcAft>
              <a:defRPr sz="1800"/>
            </a:pPr>
            <a:r>
              <a:t>   SD: 0.155</a:t>
            </a:r>
          </a:p>
          <a:p>
            <a:pPr>
              <a:spcAft>
                <a:spcPts val="800"/>
              </a:spcAft>
              <a:defRPr sz="1800"/>
            </a:pPr>
            <a:r>
              <a:t>   Range: [0.260, 0.657]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Most divergent pairs:</a:t>
            </a:r>
          </a:p>
          <a:p>
            <a:pPr>
              <a:spcAft>
                <a:spcPts val="800"/>
              </a:spcAft>
              <a:defRPr sz="1800"/>
            </a:pPr>
            <a:r>
              <a:t>   Heniochus pleurotaenia vs H. varius: 0.657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Full Hemingson hypothesis testing requires range overlap data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Grayscale Robustness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8872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• Pattern geometry metrics highly correlated between color and grayscale:</a:t>
            </a:r>
          </a:p>
          <a:p>
            <a:pPr>
              <a:spcAft>
                <a:spcPts val="1200"/>
              </a:spcAft>
              <a:defRPr sz="2000"/>
            </a:pPr>
            <a:r>
              <a:t>•    m (transition density): r &gt; 0.95</a:t>
            </a:r>
          </a:p>
          <a:p>
            <a:pPr>
              <a:spcAft>
                <a:spcPts val="1200"/>
              </a:spcAft>
              <a:defRPr sz="2000"/>
            </a:pPr>
            <a:r>
              <a:t>•    A (aspect ratio): r &gt; 0.95</a:t>
            </a:r>
          </a:p>
          <a:p>
            <a:pPr>
              <a:spcAft>
                <a:spcPts val="1200"/>
              </a:spcAft>
              <a:defRPr sz="2000"/>
            </a:pPr>
            <a:r>
              <a:t>•    Jc (color diversity): r &gt; 0.95</a:t>
            </a:r>
          </a:p>
          <a:p>
            <a:pPr>
              <a:spcAft>
                <a:spcPts val="1200"/>
              </a:spcAft>
              <a:defRPr sz="2000"/>
            </a:pPr>
            <a:r>
              <a:t>•    Jt (transition diversity): r &gt; 0.95</a:t>
            </a:r>
          </a:p>
          <a:p>
            <a:pPr>
              <a:spcAft>
                <a:spcPts val="1200"/>
              </a:spcAft>
              <a:defRPr sz="2000"/>
            </a:pPr>
            <a:r>
              <a:t>• </a:t>
            </a:r>
          </a:p>
          <a:p>
            <a:pPr>
              <a:spcAft>
                <a:spcPts val="1200"/>
              </a:spcAft>
              <a:defRPr sz="2000"/>
            </a:pPr>
            <a:r>
              <a:t>• m_dS (chromatic) = 0 in grayscale (as expected)</a:t>
            </a:r>
          </a:p>
          <a:p>
            <a:pPr>
              <a:spcAft>
                <a:spcPts val="1200"/>
              </a:spcAft>
              <a:defRPr sz="2000"/>
            </a:pPr>
            <a:r>
              <a:t>• </a:t>
            </a:r>
          </a:p>
          <a:p>
            <a:pPr>
              <a:spcAft>
                <a:spcPts val="1200"/>
              </a:spcAft>
              <a:defRPr sz="2000"/>
            </a:pPr>
            <a:r>
              <a:t>• Pattern structure captured independent of color information</a:t>
            </a:r>
          </a:p>
          <a:p>
            <a:pPr>
              <a:spcAft>
                <a:spcPts val="1200"/>
              </a:spcAft>
              <a:defRPr sz="2000"/>
            </a:pPr>
            <a:r>
              <a:t>• Validates use of geometric metrics for evolutionary analysis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Key Findings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8872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• Phylogenetic signal detected but K &lt; 1 for all metrics</a:t>
            </a:r>
          </a:p>
          <a:p>
            <a:pPr>
              <a:spcAft>
                <a:spcPts val="1200"/>
              </a:spcAft>
              <a:defRPr sz="2000"/>
            </a:pPr>
            <a:r>
              <a:t>•    → Closely related species more variable than expected under BM</a:t>
            </a:r>
          </a:p>
          <a:p>
            <a:pPr>
              <a:spcAft>
                <a:spcPts val="1200"/>
              </a:spcAft>
              <a:defRPr sz="2000"/>
            </a:pPr>
            <a:r>
              <a:t>• </a:t>
            </a:r>
          </a:p>
          <a:p>
            <a:pPr>
              <a:spcAft>
                <a:spcPts val="1200"/>
              </a:spcAft>
              <a:defRPr sz="2000"/>
            </a:pPr>
            <a:r>
              <a:t>• Significant rate acceleration for PC1 (color pattern)</a:t>
            </a:r>
          </a:p>
          <a:p>
            <a:pPr>
              <a:spcAft>
                <a:spcPts val="1200"/>
              </a:spcAft>
              <a:defRPr sz="2000"/>
            </a:pPr>
            <a:r>
              <a:t>•    → Evolution speeding up toward present</a:t>
            </a:r>
          </a:p>
          <a:p>
            <a:pPr>
              <a:spcAft>
                <a:spcPts val="1200"/>
              </a:spcAft>
              <a:defRPr sz="2000"/>
            </a:pPr>
            <a:r>
              <a:t>• </a:t>
            </a:r>
          </a:p>
          <a:p>
            <a:pPr>
              <a:spcAft>
                <a:spcPts val="1200"/>
              </a:spcAft>
              <a:defRPr sz="2000"/>
            </a:pPr>
            <a:r>
              <a:t>• Species-specific k values (2-5) capture pattern complexity</a:t>
            </a:r>
          </a:p>
          <a:p>
            <a:pPr>
              <a:spcAft>
                <a:spcPts val="1200"/>
              </a:spcAft>
              <a:defRPr sz="2000"/>
            </a:pPr>
            <a:r>
              <a:t>•    → Better than fixed k=4 used in 2019 analysis</a:t>
            </a:r>
          </a:p>
          <a:p>
            <a:pPr>
              <a:spcAft>
                <a:spcPts val="1200"/>
              </a:spcAft>
              <a:defRPr sz="2000"/>
            </a:pPr>
            <a:r>
              <a:t>• </a:t>
            </a:r>
          </a:p>
          <a:p>
            <a:pPr>
              <a:spcAft>
                <a:spcPts val="1200"/>
              </a:spcAft>
              <a:defRPr sz="2000"/>
            </a:pPr>
            <a:r>
              <a:t>• Grayscale analysis validates pattern geometry metrics</a:t>
            </a:r>
          </a:p>
          <a:p>
            <a:pPr>
              <a:spcAft>
                <a:spcPts val="1200"/>
              </a:spcAft>
              <a:defRPr sz="2000"/>
            </a:pPr>
            <a:r>
              <a:t>•    → Spatial structure independent of hue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Top 5 Suggested Additional Analyses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8872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• 1. BAMM Rate Analysis - Test for evolutionary rate shifts</a:t>
            </a:r>
          </a:p>
          <a:p>
            <a:pPr>
              <a:spcAft>
                <a:spcPts val="1200"/>
              </a:spcAft>
              <a:defRPr sz="2000"/>
            </a:pPr>
            <a:r>
              <a:t>• </a:t>
            </a:r>
          </a:p>
          <a:p>
            <a:pPr>
              <a:spcAft>
                <a:spcPts val="1200"/>
              </a:spcAft>
              <a:defRPr sz="2000"/>
            </a:pPr>
            <a:r>
              <a:t>• 2. Multivariate OU Models (mvMorph) - Compare BM, OU, EB models</a:t>
            </a:r>
          </a:p>
          <a:p>
            <a:pPr>
              <a:spcAft>
                <a:spcPts val="1200"/>
              </a:spcAft>
              <a:defRPr sz="2000"/>
            </a:pPr>
            <a:r>
              <a:t>• </a:t>
            </a:r>
          </a:p>
          <a:p>
            <a:pPr>
              <a:spcAft>
                <a:spcPts val="1200"/>
              </a:spcAft>
              <a:defRPr sz="2000"/>
            </a:pPr>
            <a:r>
              <a:t>• 3. Regime-Dependent Evolution (OUwie) - Test if color evolves differently by ecology</a:t>
            </a:r>
          </a:p>
          <a:p>
            <a:pPr>
              <a:spcAft>
                <a:spcPts val="1200"/>
              </a:spcAft>
              <a:defRPr sz="2000"/>
            </a:pPr>
            <a:r>
              <a:t>• </a:t>
            </a:r>
          </a:p>
          <a:p>
            <a:pPr>
              <a:spcAft>
                <a:spcPts val="1200"/>
              </a:spcAft>
              <a:defRPr sz="2000"/>
            </a:pPr>
            <a:r>
              <a:t>• 4. Deep Learning Embedding Comparison - Compare pavo to DINO/CLIP</a:t>
            </a:r>
          </a:p>
          <a:p>
            <a:pPr>
              <a:spcAft>
                <a:spcPts val="1200"/>
              </a:spcAft>
              <a:defRPr sz="2000"/>
            </a:pPr>
            <a:r>
              <a:t>• </a:t>
            </a:r>
          </a:p>
          <a:p>
            <a:pPr>
              <a:spcAft>
                <a:spcPts val="1200"/>
              </a:spcAft>
              <a:defRPr sz="2000"/>
            </a:pPr>
            <a:r>
              <a:t>• 5. Color Channel Decomposition - Test signal for hue, saturation, luminance separately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8872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• Complete exemplar curation for remaining tree tips</a:t>
            </a:r>
          </a:p>
          <a:p>
            <a:pPr>
              <a:spcAft>
                <a:spcPts val="1200"/>
              </a:spcAft>
              <a:defRPr sz="2000"/>
            </a:pPr>
            <a:r>
              <a:t>• </a:t>
            </a:r>
          </a:p>
          <a:p>
            <a:pPr>
              <a:spcAft>
                <a:spcPts val="1200"/>
              </a:spcAft>
              <a:defRPr sz="2000"/>
            </a:pPr>
            <a:r>
              <a:t>• Add range overlap and symmetry data for Hemingson hypothesis</a:t>
            </a:r>
          </a:p>
          <a:p>
            <a:pPr>
              <a:spcAft>
                <a:spcPts val="1200"/>
              </a:spcAft>
              <a:defRPr sz="2000"/>
            </a:pPr>
            <a:r>
              <a:t>• </a:t>
            </a:r>
          </a:p>
          <a:p>
            <a:pPr>
              <a:spcAft>
                <a:spcPts val="1200"/>
              </a:spcAft>
              <a:defRPr sz="2000"/>
            </a:pPr>
            <a:r>
              <a:t>• Run BAMM analysis to identify rate shift locations</a:t>
            </a:r>
          </a:p>
          <a:p>
            <a:pPr>
              <a:spcAft>
                <a:spcPts val="1200"/>
              </a:spcAft>
              <a:defRPr sz="2000"/>
            </a:pPr>
            <a:r>
              <a:t>• </a:t>
            </a:r>
          </a:p>
          <a:p>
            <a:pPr>
              <a:spcAft>
                <a:spcPts val="1200"/>
              </a:spcAft>
              <a:defRPr sz="2000"/>
            </a:pPr>
            <a:r>
              <a:t>• Compare current results to 2019 paper (fixed k=4)</a:t>
            </a:r>
          </a:p>
          <a:p>
            <a:pPr>
              <a:spcAft>
                <a:spcPts val="1200"/>
              </a:spcAft>
              <a:defRPr sz="2000"/>
            </a:pPr>
            <a:r>
              <a:t>• </a:t>
            </a:r>
          </a:p>
          <a:p>
            <a:pPr>
              <a:spcAft>
                <a:spcPts val="1200"/>
              </a:spcAft>
              <a:defRPr sz="2000"/>
            </a:pPr>
            <a:r>
              <a:t>• Generate publication-quality figures with ggtree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3366"/>
                </a:solidFill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646464"/>
                </a:solidFill>
              </a:defRPr>
            </a:pPr>
            <a:r>
              <a:t>Questions?</a:t>
            </a:r>
            <a:br/>
            <a:br/>
            <a:r>
              <a:t>Data &amp; Code: pilot_analysis/</a:t>
            </a:r>
            <a:br/>
            <a:r>
              <a:t>Report: pilot_analysis_report.html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